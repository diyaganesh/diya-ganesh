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ora"/>
      <p:regular r:id="rId26"/>
      <p:bold r:id="rId27"/>
      <p:italic r:id="rId28"/>
      <p:boldItalic r:id="rId29"/>
    </p:embeddedFont>
    <p:embeddedFont>
      <p:font typeface="Oswald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DAB389-CDB3-4739-B3F5-204A888A9A4F}">
  <a:tblStyle styleId="{98DAB389-CDB3-4739-B3F5-204A888A9A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ora-italic.fntdata"/><Relationship Id="rId27" Type="http://schemas.openxmlformats.org/officeDocument/2006/relationships/font" Target="fonts/Lor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swa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dbb07f3d_0_5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dbb07f3d_0_9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98d34bc7_0_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98d34bc7_0_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98d34bc7_0_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98d34bc7_0_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98d34bc7_0_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98d34bc7_0_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98d34bc7_0_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98d34bc7_0_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98d34bc7_0_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dbb07f3d_30_0)">
  <p:cSld name="Generated (g3d9dbb07f3d_3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hyperlink" Target="https://www.kaggle.com/fedesoriano/heart-failure-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571500" y="1333500"/>
            <a:ext cx="38100" cy="1714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800100" y="13335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A8DAD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Machine Learning in </a:t>
            </a:r>
            <a:r>
              <a:rPr lang="en" sz="1600">
                <a:solidFill>
                  <a:srgbClr val="A8DAD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Biology and Healthcare</a:t>
            </a:r>
            <a:endParaRPr b="0" sz="1600">
              <a:solidFill>
                <a:srgbClr val="A8DAD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800100" y="17145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Machine Learning Approaches for Predicting Heart Disease</a:t>
            </a:r>
            <a:endParaRPr b="1" sz="42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00100" y="3429000"/>
            <a:ext cx="1905000" cy="19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800100" y="36195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FAEE"/>
                </a:solidFill>
                <a:latin typeface="Montserrat"/>
                <a:ea typeface="Montserrat"/>
                <a:cs typeface="Montserrat"/>
                <a:sym typeface="Montserrat"/>
              </a:rPr>
              <a:t>Presented by Diya Ganesh</a:t>
            </a:r>
            <a:endParaRPr b="0" sz="1100">
              <a:solidFill>
                <a:srgbClr val="F1FAE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FAEE"/>
                </a:solidFill>
                <a:latin typeface="Montserrat"/>
                <a:ea typeface="Montserrat"/>
                <a:cs typeface="Montserrat"/>
                <a:sym typeface="Montserrat"/>
              </a:rPr>
              <a:t>GN 428 - </a:t>
            </a:r>
            <a:r>
              <a:rPr lang="en" sz="1100">
                <a:solidFill>
                  <a:srgbClr val="F1FAEE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r>
              <a:rPr lang="en" sz="1100">
                <a:solidFill>
                  <a:srgbClr val="F1FAEE"/>
                </a:solidFill>
                <a:latin typeface="Montserrat"/>
                <a:ea typeface="Montserrat"/>
                <a:cs typeface="Montserrat"/>
                <a:sym typeface="Montserrat"/>
              </a:rPr>
              <a:t> to Machine Learning in Biology</a:t>
            </a:r>
            <a:endParaRPr b="0" sz="1100">
              <a:solidFill>
                <a:srgbClr val="F1FAE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FAEE"/>
                </a:solidFill>
                <a:latin typeface="Montserrat"/>
                <a:ea typeface="Montserrat"/>
                <a:cs typeface="Montserrat"/>
                <a:sym typeface="Montserrat"/>
              </a:rPr>
              <a:t>04/30/2026</a:t>
            </a:r>
            <a:endParaRPr b="0" sz="1100">
              <a:solidFill>
                <a:srgbClr val="F1FA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Introduction</a:t>
            </a:r>
            <a:endParaRPr b="1" sz="24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609600" y="1433625"/>
            <a:ext cx="4500900" cy="2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Heart disease is a leading cause of death worldwide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Early detection improves patient outcomes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Machine learning can analyze clinical patterns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Goal: predict presence or absence of heart disease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923" y="454200"/>
            <a:ext cx="3344926" cy="413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Hypothesis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58350" y="1359250"/>
            <a:ext cx="85308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Clinical and physiological features are associated with heart disease and that machine learning models can predict disease presence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700" y="2571749"/>
            <a:ext cx="7752602" cy="20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Dataset</a:t>
            </a:r>
            <a:endParaRPr b="1" sz="24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58350" y="1359250"/>
            <a:ext cx="40113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Heart disease dataset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Outcome: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0 = No heart disease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 = Heart disease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Features include: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Chest pain type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ECG results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Exercise-induced angina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600" y="1306500"/>
            <a:ext cx="4797875" cy="301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816975" y="381000"/>
            <a:ext cx="34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Data Processing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58350" y="1359250"/>
            <a:ext cx="3888300" cy="27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Converted categorical variables to factors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Checked for missing values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Removed duplicate observations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Split data: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70% training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○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30% testing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175" y="1471205"/>
            <a:ext cx="4557701" cy="23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Models Used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358350" y="1359250"/>
            <a:ext cx="5084100" cy="26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Decision Tree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Logistic Regression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Char char="●"/>
            </a:pPr>
            <a:r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K-Nearest Neighbors (KNN)</a:t>
            </a:r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3644" y="497119"/>
            <a:ext cx="2520300" cy="221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4849" y="2817950"/>
            <a:ext cx="2685016" cy="18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05" name="Google Shape;105;p20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762000" y="381000"/>
            <a:ext cx="606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6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Decision Tree Model - Figure</a:t>
            </a:r>
            <a:endParaRPr b="1" sz="286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850" y="1119475"/>
            <a:ext cx="6380324" cy="376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Results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609600" y="130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{98DAB389-CDB3-4739-B3F5-204A888A9A4F}</a:tableStyleId>
              </a:tblPr>
              <a:tblGrid>
                <a:gridCol w="1963025"/>
                <a:gridCol w="1963025"/>
                <a:gridCol w="1963025"/>
                <a:gridCol w="1963025"/>
              </a:tblGrid>
              <a:tr h="82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Model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Accuracy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Sensitivity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Specificity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</a:tr>
              <a:tr h="853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Decision Tree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82.97%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83.87%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81.82%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82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Logistic Regression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87.68%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89.03%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85.95%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82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KNN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87.68%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90.97%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83.47%</a:t>
                      </a:r>
                      <a:endParaRPr b="1" sz="1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Discussion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358350" y="1359250"/>
            <a:ext cx="5084100" cy="26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Logistic Regression &amp; KNN had highest accuracy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KNN had highest sensitivity → best at detecting heart disease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Sensitivity is important to reduce false negatives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Decision tree helped identify key features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705" y="1159393"/>
            <a:ext cx="3058625" cy="30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358350" y="1359250"/>
            <a:ext cx="4433400" cy="3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Machine learning can predict heart disease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KNN best for identifying disease cases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Logistic regression strong overall performance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FAEE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F1FAEE"/>
                </a:solidFill>
                <a:latin typeface="Lora"/>
                <a:ea typeface="Lora"/>
                <a:cs typeface="Lora"/>
                <a:sym typeface="Lora"/>
              </a:rPr>
              <a:t>Future goal: improve sensitivity</a:t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300" y="952500"/>
            <a:ext cx="3478649" cy="34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 title="UxrS23eEgVI9yc1TzIyTDk461OCdi8meZN0xICNB-QD8_b4Tbp0pbRaNE2Yjg-dyaaL9H5LclfCbr7yq0qP-9IL6RRfuAuAZ-rWhmIvOoz8HQWzk-CvZ3fV5kfDwylGgYUOf5p0E4UCcGJTpsPNXgm-VU-imd0M82j3clLB-K3GC6zrlP1qM1lLCC92Dqh8-.jpeg"/>
          <p:cNvPicPr preferRelativeResize="0"/>
          <p:nvPr/>
        </p:nvPicPr>
        <p:blipFill rotWithShape="1">
          <a:blip r:embed="rId3">
            <a:alphaModFix amt="44000"/>
          </a:blip>
          <a:srcRect b="21875" l="0" r="0" t="2187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816975" y="380990"/>
            <a:ext cx="2330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6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References</a:t>
            </a:r>
            <a:endParaRPr b="1" sz="235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358350" y="1359250"/>
            <a:ext cx="8433900" cy="21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fedesoriano. (September 2021). Heart Failure Prediction Dataset. Retrieved [04/25/2026] from </a:t>
            </a: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https://www.kaggle.com/fedesoriano/heart-failure-prediction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1FAEE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